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2_335BE035.xml" ContentType="application/vnd.ms-powerpoint.comments+xml"/>
  <Override PartName="/ppt/notesSlides/notesSlide3.xml" ContentType="application/vnd.openxmlformats-officedocument.presentationml.notesSlide+xml"/>
  <Override PartName="/ppt/comments/modernComment_104_9C52468E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0BD291-8104-3863-A481-23F2CF4DA489}" name="Sandra Klemet-N'guessan" initials="SK" userId="S::sandraklemet@trentu.ca::0d19dd2d-6e00-409e-9933-e191f28020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666666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1FE5BD-F5C4-4027-B437-BA909DD6650F}" v="3" dt="2026-03-14T23:46:40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651" autoAdjust="0"/>
  </p:normalViewPr>
  <p:slideViewPr>
    <p:cSldViewPr snapToGrid="0">
      <p:cViewPr varScale="1">
        <p:scale>
          <a:sx n="97" d="100"/>
          <a:sy n="97" d="100"/>
        </p:scale>
        <p:origin x="2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ra Klemet-N'guessan" userId="0d19dd2d-6e00-409e-9933-e191f280205d" providerId="ADAL" clId="{89BD5EB5-483A-4D23-98EB-6C08039E7710}"/>
    <pc:docChg chg="modSld">
      <pc:chgData name="Sandra Klemet-N'guessan" userId="0d19dd2d-6e00-409e-9933-e191f280205d" providerId="ADAL" clId="{89BD5EB5-483A-4D23-98EB-6C08039E7710}" dt="2026-03-14T23:49:05.140" v="27" actId="167"/>
      <pc:docMkLst>
        <pc:docMk/>
      </pc:docMkLst>
      <pc:sldChg chg="addSp modSp mod">
        <pc:chgData name="Sandra Klemet-N'guessan" userId="0d19dd2d-6e00-409e-9933-e191f280205d" providerId="ADAL" clId="{89BD5EB5-483A-4D23-98EB-6C08039E7710}" dt="2026-03-14T23:49:05.140" v="27" actId="167"/>
        <pc:sldMkLst>
          <pc:docMk/>
          <pc:sldMk cId="2622637710" sldId="260"/>
        </pc:sldMkLst>
        <pc:spChg chg="add mod">
          <ac:chgData name="Sandra Klemet-N'guessan" userId="0d19dd2d-6e00-409e-9933-e191f280205d" providerId="ADAL" clId="{89BD5EB5-483A-4D23-98EB-6C08039E7710}" dt="2026-03-14T23:47:53.480" v="16" actId="1076"/>
          <ac:spMkLst>
            <pc:docMk/>
            <pc:sldMk cId="2622637710" sldId="260"/>
            <ac:spMk id="13" creationId="{EC325244-F071-15DE-8442-D93324BA0D3C}"/>
          </ac:spMkLst>
        </pc:spChg>
        <pc:spChg chg="mod">
          <ac:chgData name="Sandra Klemet-N'guessan" userId="0d19dd2d-6e00-409e-9933-e191f280205d" providerId="ADAL" clId="{89BD5EB5-483A-4D23-98EB-6C08039E7710}" dt="2026-03-14T23:47:49.112" v="15" actId="1076"/>
          <ac:spMkLst>
            <pc:docMk/>
            <pc:sldMk cId="2622637710" sldId="260"/>
            <ac:spMk id="37" creationId="{BE38B3E5-43E2-1E93-B954-B7D5AC762FDA}"/>
          </ac:spMkLst>
        </pc:spChg>
        <pc:cxnChg chg="add mod ord">
          <ac:chgData name="Sandra Klemet-N'guessan" userId="0d19dd2d-6e00-409e-9933-e191f280205d" providerId="ADAL" clId="{89BD5EB5-483A-4D23-98EB-6C08039E7710}" dt="2026-03-14T23:49:05.140" v="27" actId="167"/>
          <ac:cxnSpMkLst>
            <pc:docMk/>
            <pc:sldMk cId="2622637710" sldId="260"/>
            <ac:cxnSpMk id="7" creationId="{2210BF14-97D1-AFE9-68FA-5EB04C8B1AEA}"/>
          </ac:cxnSpMkLst>
        </pc:cxnChg>
      </pc:sldChg>
    </pc:docChg>
  </pc:docChgLst>
</pc:chgInfo>
</file>

<file path=ppt/comments/modernComment_102_335BE0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ACC545-49E3-4E11-BA41-8FECE263F76A}" authorId="{300BD291-8104-3863-A481-23F2CF4DA489}" created="2025-12-15T13:27:04.1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61659189" sldId="258"/>
      <ac:spMk id="19" creationId="{77D5AE27-B84C-2864-B30D-4357A95CC969}"/>
      <ac:txMk cp="0" len="1">
        <ac:context len="35" hash="139112319"/>
      </ac:txMk>
    </ac:txMkLst>
    <p188:pos x="1225037" y="228142"/>
    <p188:replyLst>
      <p188:reply id="{73C5FB51-5CCB-403F-99C8-3DD0D210A63D}" authorId="{300BD291-8104-3863-A481-23F2CF4DA489}" created="2025-12-15T16:52:43.275">
        <p188:txBody>
          <a:bodyPr/>
          <a:lstStyle/>
          <a:p>
            <a:r>
              <a:rPr lang="en-CA"/>
              <a:t>Internal nutrient load: abiotic processes + bioturbation (remobilization of nutrients from sediments) and excreted/egested translocated</a:t>
            </a:r>
          </a:p>
        </p188:txBody>
      </p188:reply>
    </p188:replyLst>
    <p188:txBody>
      <a:bodyPr/>
      <a:lstStyle/>
      <a:p>
        <a:r>
          <a:rPr lang="en-CA"/>
          <a:t>Internal nutrient pools: sediments + biomass</a:t>
        </a:r>
      </a:p>
    </p188:txBody>
  </p188:cm>
  <p188:cm id="{39EA9851-B82F-439A-9494-B3917ACEA77F}" authorId="{300BD291-8104-3863-A481-23F2CF4DA489}" created="2025-12-15T16:59:31.9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61659189" sldId="258"/>
      <ac:spMk id="3" creationId="{B5F3289C-90D8-354D-7392-F0DCC6D16809}"/>
      <ac:txMk cp="0" len="43">
        <ac:context len="44" hash="4155551532"/>
      </ac:txMk>
    </ac:txMkLst>
    <p188:pos x="2819817" y="273602"/>
    <p188:txBody>
      <a:bodyPr/>
      <a:lstStyle/>
      <a:p>
        <a:r>
          <a:rPr lang="en-CA"/>
          <a:t>Processes governing lake nutrient retention</a:t>
        </a:r>
      </a:p>
    </p188:txBody>
  </p188:cm>
  <p188:cm id="{CFD67AB6-F448-49F2-9073-04D9180E1036}" authorId="{300BD291-8104-3863-A481-23F2CF4DA489}" created="2025-12-15T17:04:07.9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61659189" sldId="258"/>
      <ac:spMk id="10" creationId="{011FB80E-45E7-82EF-E95A-2D8696B6E968}"/>
    </ac:deMkLst>
    <p188:txBody>
      <a:bodyPr/>
      <a:lstStyle/>
      <a:p>
        <a:r>
          <a:rPr lang="en-CA"/>
          <a:t>Pool size + residence time</a:t>
        </a:r>
      </a:p>
    </p188:txBody>
  </p188:cm>
</p188:cmLst>
</file>

<file path=ppt/comments/modernComment_104_9C5246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BBBF75-9A97-4475-9E6D-3AEC77932F4B}" authorId="{300BD291-8104-3863-A481-23F2CF4DA489}" created="2025-12-15T13:27:04.1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22637710" sldId="260"/>
      <ac:spMk id="19" creationId="{3D65ABC0-C8ED-7ECA-20E0-A78395953AB8}"/>
      <ac:txMk cp="0" len="1">
        <ac:context len="35" hash="139112319"/>
      </ac:txMk>
    </ac:txMkLst>
    <p188:pos x="1225037" y="228142"/>
    <p188:replyLst>
      <p188:reply id="{73C5FB51-5CCB-403F-99C8-3DD0D210A63D}" authorId="{300BD291-8104-3863-A481-23F2CF4DA489}" created="2025-12-15T16:52:43.275">
        <p188:txBody>
          <a:bodyPr/>
          <a:lstStyle/>
          <a:p>
            <a:r>
              <a:rPr lang="en-CA"/>
              <a:t>Internal nutrient load: abiotic processes + bioturbation (remobilization of nutrients from sediments) and excreted/egested translocated</a:t>
            </a:r>
          </a:p>
        </p188:txBody>
      </p188:reply>
    </p188:replyLst>
    <p188:txBody>
      <a:bodyPr/>
      <a:lstStyle/>
      <a:p>
        <a:r>
          <a:rPr lang="en-CA"/>
          <a:t>Internal nutrient pools: sediments + biomass</a:t>
        </a:r>
      </a:p>
    </p188:txBody>
  </p188:cm>
  <p188:cm id="{62FBBDC6-22C1-4BB4-B365-4DA619734571}" authorId="{300BD291-8104-3863-A481-23F2CF4DA489}" created="2025-12-15T16:59:31.9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22637710" sldId="260"/>
      <ac:spMk id="3" creationId="{0656ED09-B86F-DC05-950C-C108AA23434C}"/>
      <ac:txMk cp="0" len="43">
        <ac:context len="44" hash="4155551532"/>
      </ac:txMk>
    </ac:txMkLst>
    <p188:pos x="2819817" y="273602"/>
    <p188:txBody>
      <a:bodyPr/>
      <a:lstStyle/>
      <a:p>
        <a:r>
          <a:rPr lang="en-CA"/>
          <a:t>Processes governing lake nutrient retention</a:t>
        </a:r>
      </a:p>
    </p188:txBody>
  </p188:cm>
  <p188:cm id="{3A0B1BA3-F887-4386-B0A5-FF4D6088D584}" authorId="{300BD291-8104-3863-A481-23F2CF4DA489}" created="2025-12-15T17:04:07.9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22637710" sldId="260"/>
      <ac:spMk id="10" creationId="{27AA275E-7548-40EC-F343-BB463A922952}"/>
    </ac:deMkLst>
    <p188:txBody>
      <a:bodyPr/>
      <a:lstStyle/>
      <a:p>
        <a:r>
          <a:rPr lang="en-CA"/>
          <a:t>Pool size + residence time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DB300-8F4B-45C4-B9E9-804130C34BE9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F0A2B5-3D7E-4D4C-8F5F-A99178208D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408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Food web load term:  Nutrient load uptake – (nutrient ingestion by animal - (egestion + metabolism + nutrient storage (pool or sink) + excretion) 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A2B5-3D7E-4D4C-8F5F-A99178208DE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179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Bocaniov</a:t>
            </a:r>
            <a:r>
              <a:rPr lang="en-US" dirty="0"/>
              <a:t>, Li et al, Wu et al for magnitude of arrows</a:t>
            </a:r>
          </a:p>
          <a:p>
            <a:endParaRPr lang="en-US" dirty="0"/>
          </a:p>
          <a:p>
            <a:r>
              <a:rPr lang="en-US" dirty="0"/>
              <a:t>External loads alone do not determine nutrient availability to primary producers; animal-mediated internal fluxes redistribute nutrients between pools and partially offset losses, thereby sustaining primary production.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effective nutrient supply experienced by primary producers exceeds the external load</a:t>
            </a:r>
            <a:r>
              <a:rPr lang="en-US" dirty="0"/>
              <a:t> because internally recycled P supplements external inputs.</a:t>
            </a:r>
          </a:p>
          <a:p>
            <a:endParaRPr lang="en-CA" dirty="0"/>
          </a:p>
          <a:p>
            <a:r>
              <a:rPr lang="en-CA" dirty="0"/>
              <a:t>Increased recycling → higher primary production,</a:t>
            </a:r>
          </a:p>
          <a:p>
            <a:r>
              <a:rPr lang="en-CA" dirty="0"/>
              <a:t>Higher production → greater consumer biomass,</a:t>
            </a:r>
          </a:p>
          <a:p>
            <a:r>
              <a:rPr lang="en-CA" dirty="0"/>
              <a:t>Greater consumer biomass → higher absolute excretion rates,</a:t>
            </a:r>
          </a:p>
          <a:p>
            <a:r>
              <a:rPr lang="en-CA" dirty="0"/>
              <a:t>Which further elevates </a:t>
            </a:r>
            <a:r>
              <a:rPr lang="en-CA" b="1" dirty="0"/>
              <a:t>internal nutrient availability</a:t>
            </a:r>
          </a:p>
          <a:p>
            <a:endParaRPr lang="en-CA" b="1" dirty="0"/>
          </a:p>
          <a:p>
            <a:r>
              <a:rPr lang="en-US" dirty="0"/>
              <a:t>External loads set the </a:t>
            </a:r>
            <a:r>
              <a:rPr lang="en-US" i="1" dirty="0"/>
              <a:t>initial boundary condition</a:t>
            </a:r>
            <a:r>
              <a:rPr lang="en-US" dirty="0"/>
              <a:t>, but internal cycling determines how long and how intensively those nutrients remain biologically available before they are permanently buried, exported, or otherwise rendered unavailable.</a:t>
            </a:r>
          </a:p>
          <a:p>
            <a:r>
              <a:rPr lang="en-US" dirty="0"/>
              <a:t>Framing this as “re-investing a portion of the inputs” is appropriate: nutrients that are mineralized or excreted return to the bioavailable pool and can support additional rounds of primary production without any new external inputs.</a:t>
            </a:r>
            <a:endParaRPr lang="en-CA" b="1" dirty="0"/>
          </a:p>
          <a:p>
            <a:endParaRPr lang="en-CA" dirty="0"/>
          </a:p>
          <a:p>
            <a:r>
              <a:rPr lang="en-US" dirty="0"/>
              <a:t>Thus, even though only 1 percent of the original external load is being recycled at this particular step, its </a:t>
            </a:r>
            <a:r>
              <a:rPr lang="en-US" b="1" dirty="0"/>
              <a:t>functional importance is disproportionate</a:t>
            </a:r>
            <a:r>
              <a:rPr lang="en-US" dirty="0"/>
              <a:t>, because that same 100 MTA can support multiple production–consumption cycles over time.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A2B5-3D7E-4D4C-8F5F-A99178208DE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3542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24A93-9361-EC00-A49B-06BD1FA7C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D4B48-4E69-00EC-8B12-DCA7724A4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319F4-E787-BC35-BFB1-CCD93BD84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Bocaniov</a:t>
            </a:r>
            <a:r>
              <a:rPr lang="en-US" dirty="0"/>
              <a:t>, Li et al, Xu et al for magnitude of arrows</a:t>
            </a:r>
          </a:p>
          <a:p>
            <a:endParaRPr lang="en-US" dirty="0"/>
          </a:p>
          <a:p>
            <a:r>
              <a:rPr lang="en-US" dirty="0"/>
              <a:t>External loads alone do not determine nutrient availability to primary producers; animal-mediated internal fluxes redistribute nutrients between pools and partially offset losses, thereby sustaining primary production.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effective nutrient supply experienced by primary producers exceeds the external load</a:t>
            </a:r>
            <a:r>
              <a:rPr lang="en-US" dirty="0"/>
              <a:t> because internally recycled P supplements external inputs.</a:t>
            </a:r>
          </a:p>
          <a:p>
            <a:endParaRPr lang="en-CA" dirty="0"/>
          </a:p>
          <a:p>
            <a:r>
              <a:rPr lang="en-CA" dirty="0"/>
              <a:t>Increased recycling → higher primary production,</a:t>
            </a:r>
          </a:p>
          <a:p>
            <a:r>
              <a:rPr lang="en-CA" dirty="0"/>
              <a:t>Higher production → greater consumer biomass,</a:t>
            </a:r>
          </a:p>
          <a:p>
            <a:r>
              <a:rPr lang="en-CA" dirty="0"/>
              <a:t>Greater consumer biomass → higher absolute excretion rates,</a:t>
            </a:r>
          </a:p>
          <a:p>
            <a:r>
              <a:rPr lang="en-CA" dirty="0"/>
              <a:t>Which further elevates </a:t>
            </a:r>
            <a:r>
              <a:rPr lang="en-CA" b="1" dirty="0"/>
              <a:t>internal nutrient availability</a:t>
            </a:r>
          </a:p>
          <a:p>
            <a:endParaRPr lang="en-CA" b="1" dirty="0"/>
          </a:p>
          <a:p>
            <a:r>
              <a:rPr lang="en-US" dirty="0"/>
              <a:t>External loads set the </a:t>
            </a:r>
            <a:r>
              <a:rPr lang="en-US" i="1" dirty="0"/>
              <a:t>initial boundary condition</a:t>
            </a:r>
            <a:r>
              <a:rPr lang="en-US" dirty="0"/>
              <a:t>, but internal cycling determines how long and how intensively those nutrients remain biologically available before they are permanently buried, exported, or otherwise rendered unavailable.</a:t>
            </a:r>
          </a:p>
          <a:p>
            <a:r>
              <a:rPr lang="en-US" dirty="0"/>
              <a:t>Framing this as “re-investing a portion of the inputs” is appropriate: nutrients that are mineralized or excreted return to the bioavailable pool and can support additional rounds of primary production without any new external inputs.</a:t>
            </a:r>
            <a:endParaRPr lang="en-CA" b="1" dirty="0"/>
          </a:p>
          <a:p>
            <a:endParaRPr lang="en-CA" dirty="0"/>
          </a:p>
          <a:p>
            <a:r>
              <a:rPr lang="en-US" dirty="0"/>
              <a:t>Thus, even though only 1 percent of the original external load is being recycled at this particular step, its </a:t>
            </a:r>
            <a:r>
              <a:rPr lang="en-US" b="1" dirty="0"/>
              <a:t>functional importance is disproportionate</a:t>
            </a:r>
            <a:r>
              <a:rPr lang="en-US" dirty="0"/>
              <a:t>, because that same 100 MTA can support multiple production–consumption cycles over time.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63795-2ECA-18E1-DE4F-4760BC04E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A2B5-3D7E-4D4C-8F5F-A99178208DE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3266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E3D5-636E-F77F-7656-6DF3DA4D3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27E4F-3A3A-A8F8-1DB6-861BA2B80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872D5-BCC7-4F8C-FE06-7EDA3F8B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8D5C6-DD7F-6C69-D55C-98F65F5D7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66476-DCD8-738D-F7EB-0FEAE80F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985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8276-BC83-4365-B4D1-0AB3E8314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7A9EF-2D93-A760-E8BA-85F346013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5F0FA-B7B5-DDDC-A768-06B4CAD08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1BDF1-5923-170A-F7B5-3F598D950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D51E0-3D4C-5E9F-AA4F-F3417439A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934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9C69-6DB1-9F09-D2F4-85C380336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2CE63-6E67-C324-0715-8D39A0961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745F2-7483-C8C2-7A7F-53A610AA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4C2D8-E7EA-EA8B-7915-A889B21C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29176-CA8F-1875-D5C4-B6226F4C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464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A3023-ED0C-7214-F528-E1431942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09AB4-924D-FC0C-6738-E2C31089D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C0332-6AA2-9C8B-B4BC-4E6BE65C6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BFD72-69A8-8553-B533-1AEE67D1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AA1D1-D22C-BF55-1E51-DA1846EE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A94FD-6EE1-BDF2-D901-B959121B2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216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A97F-E32C-76B0-54E3-243337C3B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0A702-3044-E86A-D937-DBDF9D846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2280F-9F1F-CDE6-D3D0-CE5A101F3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1D5D9-9710-53FF-1FC7-DF9C725F7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91BB4-25B2-CE4A-463D-607F8E236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B738E2-CD91-5F50-D386-B8EA61A4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00613-E778-63AB-CEE0-1B86C3F2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3A037-6C76-DBEF-8EC8-B9A95544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4555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57088-B36F-B18A-C223-823BD1F63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903D5-F176-56EA-307B-2BA91EBE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C1C61-9DD6-21C7-ADC1-38C107E9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B624B-A1C4-3D39-346E-BAF742BA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957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1314C-5A18-74EF-1631-98D1F4F0B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3080E2-A241-E79A-6BA2-F779C0A4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90BD9-1B5B-65AC-2FDF-F2A74C63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026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CE6E-C321-6A5E-1220-66165CF7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A31BB-42F2-FEB6-49EA-39765F412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B8D1B-C8BC-4F72-3D49-B5B2BD7E0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3A8B2-D610-7BDA-A8CB-C01705F7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3058B-9EAB-DAAC-4340-23409F13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0FDFF-4F1C-FB87-CFFE-325BD555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92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B25E-C4FE-6CB0-7F73-7D229310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E35243-86A5-2697-5D9D-17CCBB6BB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65E8D-6A95-48BE-73C6-55BE283D6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DD984-CD3B-B045-AF13-59565C678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7BB11-F6F6-D234-DF50-26D49506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F2D63-02AA-0DC6-754F-EBD66D9B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398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74575-88AF-66A1-0E26-700D947F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3EDA9-45A1-D40A-3DCD-22ABC3323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9C171-8B7D-5CBB-3369-F0A2D3F55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C511F-904B-1745-24B2-59DBC2D9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ABC9B-D40B-24B0-1030-89C0FB97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97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F2E9C-B3C6-7F36-A30E-94886587D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86DD8A-3870-4438-282D-5217B9D26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C8733-6F1C-29D4-409E-1206DBEDA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A955-F993-80A6-339D-D4A0F816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3F906-F118-9ACB-8AB3-3C55EDAF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091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0314B9-D03D-D503-825B-F580E1DB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28445-86C7-C84D-2578-5820D52F5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FB5ED-03B8-71BA-F5D6-45C67D603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5F53F-C4AC-4A87-8144-5C7323FA25C7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28D5F-6F94-ECD0-2012-343DA75B6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64CF-8695-2914-C8F8-C944775AE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62F41-F3F9-45F4-8B38-CC7D1563EE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601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335BE03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9C52468E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>
            <a:extLst>
              <a:ext uri="{FF2B5EF4-FFF2-40B4-BE49-F238E27FC236}">
                <a16:creationId xmlns:a16="http://schemas.microsoft.com/office/drawing/2014/main" id="{FAF56CC5-421A-683C-F96B-28787C8280A8}"/>
              </a:ext>
            </a:extLst>
          </p:cNvPr>
          <p:cNvSpPr/>
          <p:nvPr/>
        </p:nvSpPr>
        <p:spPr>
          <a:xfrm>
            <a:off x="885825" y="2285999"/>
            <a:ext cx="2104263" cy="3857625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B98D43-F2A3-2ACF-E666-EC640ECFEACA}"/>
              </a:ext>
            </a:extLst>
          </p:cNvPr>
          <p:cNvCxnSpPr/>
          <p:nvPr/>
        </p:nvCxnSpPr>
        <p:spPr>
          <a:xfrm>
            <a:off x="2990088" y="4233672"/>
            <a:ext cx="58521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7CB58341-1993-25CD-DBBE-FA9CE5458ED3}"/>
              </a:ext>
            </a:extLst>
          </p:cNvPr>
          <p:cNvSpPr/>
          <p:nvPr/>
        </p:nvSpPr>
        <p:spPr>
          <a:xfrm rot="13337258">
            <a:off x="9063719" y="874775"/>
            <a:ext cx="2104263" cy="3857625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677A60-083E-432D-DF2D-E35B021C2DEB}"/>
              </a:ext>
            </a:extLst>
          </p:cNvPr>
          <p:cNvCxnSpPr/>
          <p:nvPr/>
        </p:nvCxnSpPr>
        <p:spPr>
          <a:xfrm>
            <a:off x="987552" y="3429000"/>
            <a:ext cx="10241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9B76C8-A591-EDF6-B393-59636524F9B4}"/>
              </a:ext>
            </a:extLst>
          </p:cNvPr>
          <p:cNvCxnSpPr/>
          <p:nvPr/>
        </p:nvCxnSpPr>
        <p:spPr>
          <a:xfrm>
            <a:off x="9250680" y="3429000"/>
            <a:ext cx="10241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2510B3-C9A9-5A3F-7A21-E2FC820611E9}"/>
              </a:ext>
            </a:extLst>
          </p:cNvPr>
          <p:cNvSpPr txBox="1"/>
          <p:nvPr/>
        </p:nvSpPr>
        <p:spPr>
          <a:xfrm>
            <a:off x="658104" y="2715846"/>
            <a:ext cx="2414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Inputs: external nutrient loads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498DF6-710D-E0C6-EF0E-EF1FEC0B2DC3}"/>
              </a:ext>
            </a:extLst>
          </p:cNvPr>
          <p:cNvCxnSpPr>
            <a:cxnSpLocks/>
          </p:cNvCxnSpPr>
          <p:nvPr/>
        </p:nvCxnSpPr>
        <p:spPr>
          <a:xfrm flipH="1" flipV="1">
            <a:off x="6700658" y="3808278"/>
            <a:ext cx="213799" cy="298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7B7B68-A767-A976-817C-418EFCDACFC3}"/>
              </a:ext>
            </a:extLst>
          </p:cNvPr>
          <p:cNvCxnSpPr>
            <a:cxnSpLocks/>
          </p:cNvCxnSpPr>
          <p:nvPr/>
        </p:nvCxnSpPr>
        <p:spPr>
          <a:xfrm>
            <a:off x="2990088" y="4040386"/>
            <a:ext cx="56784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983B020-1A3E-E2D4-C4EB-F2F6B97A7A12}"/>
              </a:ext>
            </a:extLst>
          </p:cNvPr>
          <p:cNvSpPr txBox="1"/>
          <p:nvPr/>
        </p:nvSpPr>
        <p:spPr>
          <a:xfrm>
            <a:off x="7675977" y="2690007"/>
            <a:ext cx="12338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Input: internal nutrient loads</a:t>
            </a:r>
          </a:p>
        </p:txBody>
      </p:sp>
      <p:pic>
        <p:nvPicPr>
          <p:cNvPr id="19" name="Graphic 18" descr="Seaweed with solid fill">
            <a:extLst>
              <a:ext uri="{FF2B5EF4-FFF2-40B4-BE49-F238E27FC236}">
                <a16:creationId xmlns:a16="http://schemas.microsoft.com/office/drawing/2014/main" id="{FD46B40B-B2F1-D1AB-5A27-4745DC41E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2158" y="3253477"/>
            <a:ext cx="762922" cy="762922"/>
          </a:xfrm>
          <a:prstGeom prst="rect">
            <a:avLst/>
          </a:prstGeom>
        </p:spPr>
      </p:pic>
      <p:pic>
        <p:nvPicPr>
          <p:cNvPr id="23" name="Graphic 22" descr="Fish with solid fill">
            <a:extLst>
              <a:ext uri="{FF2B5EF4-FFF2-40B4-BE49-F238E27FC236}">
                <a16:creationId xmlns:a16="http://schemas.microsoft.com/office/drawing/2014/main" id="{20B81A8C-297A-9E54-7648-D54D7F413B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2158" y="1728074"/>
            <a:ext cx="624840" cy="624840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8C0AF063-9275-E0A9-4D88-03701D8F8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048" b="89555" l="6000" r="94875">
                        <a14:foregroundMark x1="9750" y1="19863" x2="5125" y2="25856"/>
                        <a14:foregroundMark x1="5125" y1="25856" x2="3500" y2="34932"/>
                        <a14:foregroundMark x1="3500" y1="34932" x2="6000" y2="43151"/>
                        <a14:foregroundMark x1="6000" y1="43151" x2="11125" y2="37671"/>
                        <a14:foregroundMark x1="11125" y1="37671" x2="12500" y2="28425"/>
                        <a14:foregroundMark x1="12500" y1="28425" x2="10250" y2="19692"/>
                        <a14:foregroundMark x1="20375" y1="10274" x2="26875" y2="13699"/>
                        <a14:foregroundMark x1="26875" y1="13699" x2="33375" y2="14041"/>
                        <a14:foregroundMark x1="33375" y1="14041" x2="39875" y2="12842"/>
                        <a14:foregroundMark x1="39875" y1="12842" x2="46250" y2="12842"/>
                        <a14:foregroundMark x1="46250" y1="12842" x2="59625" y2="11301"/>
                        <a14:foregroundMark x1="59625" y1="11301" x2="66250" y2="11473"/>
                        <a14:foregroundMark x1="66250" y1="11473" x2="60750" y2="6336"/>
                        <a14:foregroundMark x1="60750" y1="6336" x2="54250" y2="4110"/>
                        <a14:foregroundMark x1="54250" y1="4110" x2="21000" y2="8390"/>
                        <a14:foregroundMark x1="21000" y1="8390" x2="20125" y2="9247"/>
                        <a14:foregroundMark x1="90125" y1="40582" x2="94000" y2="47945"/>
                        <a14:foregroundMark x1="94000" y1="47945" x2="96250" y2="65753"/>
                        <a14:foregroundMark x1="96250" y1="65753" x2="95250" y2="74144"/>
                        <a14:foregroundMark x1="95250" y1="74144" x2="89250" y2="76712"/>
                        <a14:foregroundMark x1="89250" y1="76712" x2="87625" y2="58562"/>
                        <a14:foregroundMark x1="87625" y1="58562" x2="90125" y2="49658"/>
                        <a14:foregroundMark x1="90125" y1="49658" x2="89750" y2="42123"/>
                        <a14:foregroundMark x1="93875" y1="50171" x2="95875" y2="58733"/>
                        <a14:foregroundMark x1="95875" y1="58733" x2="94875" y2="76370"/>
                        <a14:foregroundMark x1="94875" y1="76370" x2="94125" y2="775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01665">
            <a:off x="5908671" y="2698974"/>
            <a:ext cx="381798" cy="27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Graphic 25" descr="Fish with solid fill">
            <a:extLst>
              <a:ext uri="{FF2B5EF4-FFF2-40B4-BE49-F238E27FC236}">
                <a16:creationId xmlns:a16="http://schemas.microsoft.com/office/drawing/2014/main" id="{20E88EDC-CCD6-71B8-2107-94272B7890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4578" y="2585504"/>
            <a:ext cx="464219" cy="46421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A1C489B-DA41-8A3A-D4BF-3C22B55F576F}"/>
              </a:ext>
            </a:extLst>
          </p:cNvPr>
          <p:cNvCxnSpPr>
            <a:cxnSpLocks/>
          </p:cNvCxnSpPr>
          <p:nvPr/>
        </p:nvCxnSpPr>
        <p:spPr>
          <a:xfrm flipV="1">
            <a:off x="6333722" y="2955346"/>
            <a:ext cx="0" cy="298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6D29E8-4CB4-C2A4-B11C-ADC81731AB11}"/>
              </a:ext>
            </a:extLst>
          </p:cNvPr>
          <p:cNvCxnSpPr>
            <a:cxnSpLocks/>
          </p:cNvCxnSpPr>
          <p:nvPr/>
        </p:nvCxnSpPr>
        <p:spPr>
          <a:xfrm flipV="1">
            <a:off x="6333722" y="2287373"/>
            <a:ext cx="0" cy="298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Arrow: Curved Right 37">
            <a:extLst>
              <a:ext uri="{FF2B5EF4-FFF2-40B4-BE49-F238E27FC236}">
                <a16:creationId xmlns:a16="http://schemas.microsoft.com/office/drawing/2014/main" id="{61AB8ACA-658D-F3C7-02BC-B2F65E35BED3}"/>
              </a:ext>
            </a:extLst>
          </p:cNvPr>
          <p:cNvSpPr/>
          <p:nvPr/>
        </p:nvSpPr>
        <p:spPr>
          <a:xfrm>
            <a:off x="4874022" y="2047875"/>
            <a:ext cx="713603" cy="1883793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9" name="Arrow: Curved Right 38">
            <a:extLst>
              <a:ext uri="{FF2B5EF4-FFF2-40B4-BE49-F238E27FC236}">
                <a16:creationId xmlns:a16="http://schemas.microsoft.com/office/drawing/2014/main" id="{BC651D17-3994-B618-B094-75FC61C6EF0C}"/>
              </a:ext>
            </a:extLst>
          </p:cNvPr>
          <p:cNvSpPr/>
          <p:nvPr/>
        </p:nvSpPr>
        <p:spPr>
          <a:xfrm>
            <a:off x="5472145" y="2829721"/>
            <a:ext cx="415589" cy="974603"/>
          </a:xfrm>
          <a:prstGeom prst="curved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4F16D2-60B4-98EA-3FBF-BD43783094CF}"/>
              </a:ext>
            </a:extLst>
          </p:cNvPr>
          <p:cNvSpPr txBox="1"/>
          <p:nvPr/>
        </p:nvSpPr>
        <p:spPr>
          <a:xfrm>
            <a:off x="3108225" y="2217426"/>
            <a:ext cx="1825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Remobilization: animal-mediated nutrient cycling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B2FF38-7F46-F57B-5CBF-E45F168E7F70}"/>
              </a:ext>
            </a:extLst>
          </p:cNvPr>
          <p:cNvSpPr txBox="1"/>
          <p:nvPr/>
        </p:nvSpPr>
        <p:spPr>
          <a:xfrm>
            <a:off x="9220710" y="3008685"/>
            <a:ext cx="1382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Outputs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460D5B-9691-9087-F5D4-E17810F03FBB}"/>
              </a:ext>
            </a:extLst>
          </p:cNvPr>
          <p:cNvSpPr txBox="1"/>
          <p:nvPr/>
        </p:nvSpPr>
        <p:spPr>
          <a:xfrm>
            <a:off x="6807557" y="2554126"/>
            <a:ext cx="1081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Loss: nutrient uptake, metabolized, and stored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1384895-C7A3-74C4-5C4C-C8EE19C3B68B}"/>
              </a:ext>
            </a:extLst>
          </p:cNvPr>
          <p:cNvCxnSpPr>
            <a:cxnSpLocks/>
          </p:cNvCxnSpPr>
          <p:nvPr/>
        </p:nvCxnSpPr>
        <p:spPr>
          <a:xfrm flipV="1">
            <a:off x="8039701" y="3827407"/>
            <a:ext cx="0" cy="298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67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E397F4-F1FE-8F5D-8D52-1636AD8A4F81}"/>
              </a:ext>
            </a:extLst>
          </p:cNvPr>
          <p:cNvSpPr/>
          <p:nvPr/>
        </p:nvSpPr>
        <p:spPr>
          <a:xfrm>
            <a:off x="2414016" y="619395"/>
            <a:ext cx="8422048" cy="56899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3289C-90D8-354D-7392-F0DCC6D16809}"/>
              </a:ext>
            </a:extLst>
          </p:cNvPr>
          <p:cNvSpPr txBox="1"/>
          <p:nvPr/>
        </p:nvSpPr>
        <p:spPr>
          <a:xfrm>
            <a:off x="4200168" y="159111"/>
            <a:ext cx="459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Lake N and P retention and internal cycling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85509-DACD-1D7E-6FFD-BAFE98ECE667}"/>
              </a:ext>
            </a:extLst>
          </p:cNvPr>
          <p:cNvSpPr txBox="1"/>
          <p:nvPr/>
        </p:nvSpPr>
        <p:spPr>
          <a:xfrm>
            <a:off x="0" y="3059668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External nutrient loads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0BFD4E-403F-F961-2E74-37693228D8AE}"/>
              </a:ext>
            </a:extLst>
          </p:cNvPr>
          <p:cNvCxnSpPr>
            <a:cxnSpLocks/>
          </p:cNvCxnSpPr>
          <p:nvPr/>
        </p:nvCxnSpPr>
        <p:spPr>
          <a:xfrm>
            <a:off x="265471" y="3578597"/>
            <a:ext cx="2445320" cy="0"/>
          </a:xfrm>
          <a:prstGeom prst="straightConnector1">
            <a:avLst/>
          </a:prstGeom>
          <a:ln w="1270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7D76DE-CEE1-C8A8-7FC5-AAC484AECC83}"/>
              </a:ext>
            </a:extLst>
          </p:cNvPr>
          <p:cNvCxnSpPr>
            <a:cxnSpLocks/>
          </p:cNvCxnSpPr>
          <p:nvPr/>
        </p:nvCxnSpPr>
        <p:spPr>
          <a:xfrm flipV="1">
            <a:off x="6633268" y="2700658"/>
            <a:ext cx="0" cy="422123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1FB80E-45E7-82EF-E95A-2D8696B6E968}"/>
              </a:ext>
            </a:extLst>
          </p:cNvPr>
          <p:cNvSpPr txBox="1"/>
          <p:nvPr/>
        </p:nvSpPr>
        <p:spPr>
          <a:xfrm>
            <a:off x="5530877" y="3165251"/>
            <a:ext cx="2215123" cy="10215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Dissolved inorganic nutrients: recycled + translocated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786068-976E-A670-4799-3C3EAB5E2140}"/>
              </a:ext>
            </a:extLst>
          </p:cNvPr>
          <p:cNvSpPr/>
          <p:nvPr/>
        </p:nvSpPr>
        <p:spPr>
          <a:xfrm>
            <a:off x="5700592" y="2039664"/>
            <a:ext cx="1764000" cy="5800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Primary producers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3EE493-DD90-4C11-998C-BEFB4E932E8A}"/>
              </a:ext>
            </a:extLst>
          </p:cNvPr>
          <p:cNvSpPr txBox="1"/>
          <p:nvPr/>
        </p:nvSpPr>
        <p:spPr>
          <a:xfrm>
            <a:off x="6811196" y="2762593"/>
            <a:ext cx="98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Uptake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6A50A4-39FE-35CF-DECE-DEFEBA9DDB45}"/>
              </a:ext>
            </a:extLst>
          </p:cNvPr>
          <p:cNvSpPr/>
          <p:nvPr/>
        </p:nvSpPr>
        <p:spPr>
          <a:xfrm>
            <a:off x="5700592" y="819624"/>
            <a:ext cx="1764000" cy="5800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Consumers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ED4DC9-3CF1-8A46-09CE-435BB45ED78C}"/>
              </a:ext>
            </a:extLst>
          </p:cNvPr>
          <p:cNvCxnSpPr>
            <a:cxnSpLocks/>
          </p:cNvCxnSpPr>
          <p:nvPr/>
        </p:nvCxnSpPr>
        <p:spPr>
          <a:xfrm flipV="1">
            <a:off x="6600538" y="1504190"/>
            <a:ext cx="0" cy="42212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28453D-1115-C2EC-1F37-367198C8CD12}"/>
              </a:ext>
            </a:extLst>
          </p:cNvPr>
          <p:cNvSpPr txBox="1"/>
          <p:nvPr/>
        </p:nvSpPr>
        <p:spPr>
          <a:xfrm>
            <a:off x="6705068" y="1406053"/>
            <a:ext cx="128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Trophic transfer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40DD9-52EB-E7FB-80A0-769E1DB5E7D6}"/>
              </a:ext>
            </a:extLst>
          </p:cNvPr>
          <p:cNvSpPr txBox="1"/>
          <p:nvPr/>
        </p:nvSpPr>
        <p:spPr>
          <a:xfrm>
            <a:off x="3396986" y="1752119"/>
            <a:ext cx="1825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Excretion and </a:t>
            </a:r>
            <a:r>
              <a:rPr lang="en-CA" dirty="0" err="1"/>
              <a:t>remineralized</a:t>
            </a:r>
            <a:r>
              <a:rPr lang="en-CA" dirty="0"/>
              <a:t> egestion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D5AE27-B84C-2864-B30D-4357A95CC969}"/>
              </a:ext>
            </a:extLst>
          </p:cNvPr>
          <p:cNvSpPr/>
          <p:nvPr/>
        </p:nvSpPr>
        <p:spPr>
          <a:xfrm>
            <a:off x="5718538" y="5315705"/>
            <a:ext cx="1764000" cy="8210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Nutrient pool: sediments + biomass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6366CD-A67C-6ADB-9701-AC58C6EF35B2}"/>
              </a:ext>
            </a:extLst>
          </p:cNvPr>
          <p:cNvSpPr txBox="1"/>
          <p:nvPr/>
        </p:nvSpPr>
        <p:spPr>
          <a:xfrm>
            <a:off x="2792104" y="5098723"/>
            <a:ext cx="1783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Temporary or long-term burial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DEC2B4-3762-6B80-BD4D-C1F147698386}"/>
              </a:ext>
            </a:extLst>
          </p:cNvPr>
          <p:cNvSpPr txBox="1"/>
          <p:nvPr/>
        </p:nvSpPr>
        <p:spPr>
          <a:xfrm>
            <a:off x="11013363" y="3059679"/>
            <a:ext cx="1143001" cy="36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Outputs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C0CC88-FF36-2D6D-716E-2ED6164AE95E}"/>
              </a:ext>
            </a:extLst>
          </p:cNvPr>
          <p:cNvCxnSpPr>
            <a:cxnSpLocks/>
          </p:cNvCxnSpPr>
          <p:nvPr/>
        </p:nvCxnSpPr>
        <p:spPr>
          <a:xfrm>
            <a:off x="11150603" y="3583686"/>
            <a:ext cx="1020143" cy="1821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A6C313-22D1-B4CC-1B93-5F587E7E271C}"/>
              </a:ext>
            </a:extLst>
          </p:cNvPr>
          <p:cNvCxnSpPr>
            <a:cxnSpLocks/>
          </p:cNvCxnSpPr>
          <p:nvPr/>
        </p:nvCxnSpPr>
        <p:spPr>
          <a:xfrm flipV="1">
            <a:off x="6633268" y="4333959"/>
            <a:ext cx="0" cy="78029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2EEB488-1087-AFA3-1F05-5D1AA66B2F1C}"/>
              </a:ext>
            </a:extLst>
          </p:cNvPr>
          <p:cNvSpPr txBox="1"/>
          <p:nvPr/>
        </p:nvSpPr>
        <p:spPr>
          <a:xfrm>
            <a:off x="6622762" y="4376332"/>
            <a:ext cx="1735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Bioturbation + decomposition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6EB629-3045-F4D0-50A7-897E62791C8F}"/>
              </a:ext>
            </a:extLst>
          </p:cNvPr>
          <p:cNvCxnSpPr>
            <a:cxnSpLocks/>
          </p:cNvCxnSpPr>
          <p:nvPr/>
        </p:nvCxnSpPr>
        <p:spPr>
          <a:xfrm>
            <a:off x="2690793" y="3564390"/>
            <a:ext cx="2837384" cy="2262688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71005D6-648B-9BD1-AB78-2F342B3334F0}"/>
              </a:ext>
            </a:extLst>
          </p:cNvPr>
          <p:cNvSpPr txBox="1"/>
          <p:nvPr/>
        </p:nvSpPr>
        <p:spPr>
          <a:xfrm>
            <a:off x="8644169" y="3243989"/>
            <a:ext cx="1294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Temporary or long-term burial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497D67-1353-5C22-4C08-3EE30A4B10F7}"/>
              </a:ext>
            </a:extLst>
          </p:cNvPr>
          <p:cNvCxnSpPr>
            <a:cxnSpLocks/>
          </p:cNvCxnSpPr>
          <p:nvPr/>
        </p:nvCxnSpPr>
        <p:spPr>
          <a:xfrm flipV="1">
            <a:off x="7672899" y="3602478"/>
            <a:ext cx="3465160" cy="2453832"/>
          </a:xfrm>
          <a:prstGeom prst="straightConnector1">
            <a:avLst/>
          </a:prstGeom>
          <a:ln w="1016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59D5E27-2C96-1C95-6854-9F7F7F989C3F}"/>
              </a:ext>
            </a:extLst>
          </p:cNvPr>
          <p:cNvCxnSpPr>
            <a:cxnSpLocks/>
          </p:cNvCxnSpPr>
          <p:nvPr/>
        </p:nvCxnSpPr>
        <p:spPr>
          <a:xfrm flipV="1">
            <a:off x="6497942" y="4333959"/>
            <a:ext cx="0" cy="780290"/>
          </a:xfrm>
          <a:prstGeom prst="straightConnector1">
            <a:avLst/>
          </a:prstGeom>
          <a:ln w="9525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30C9660-BEFE-523C-3DF8-3EABE72E2C15}"/>
              </a:ext>
            </a:extLst>
          </p:cNvPr>
          <p:cNvSpPr txBox="1"/>
          <p:nvPr/>
        </p:nvSpPr>
        <p:spPr>
          <a:xfrm>
            <a:off x="5119549" y="4416760"/>
            <a:ext cx="1339902" cy="66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Abiotic processes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A7B418D-AB4B-F752-7E3F-E287490ABFE9}"/>
              </a:ext>
            </a:extLst>
          </p:cNvPr>
          <p:cNvCxnSpPr>
            <a:cxnSpLocks/>
          </p:cNvCxnSpPr>
          <p:nvPr/>
        </p:nvCxnSpPr>
        <p:spPr>
          <a:xfrm>
            <a:off x="2688093" y="3554052"/>
            <a:ext cx="2626608" cy="16485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B19A7AB-3EE6-7908-1967-62949B70D293}"/>
              </a:ext>
            </a:extLst>
          </p:cNvPr>
          <p:cNvCxnSpPr>
            <a:cxnSpLocks/>
          </p:cNvCxnSpPr>
          <p:nvPr/>
        </p:nvCxnSpPr>
        <p:spPr>
          <a:xfrm>
            <a:off x="7650951" y="2237049"/>
            <a:ext cx="3527608" cy="1346637"/>
          </a:xfrm>
          <a:prstGeom prst="straightConnector1">
            <a:avLst/>
          </a:prstGeom>
          <a:ln w="1016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80777CF-4004-C168-94AB-13E879B0BA54}"/>
              </a:ext>
            </a:extLst>
          </p:cNvPr>
          <p:cNvSpPr txBox="1"/>
          <p:nvPr/>
        </p:nvSpPr>
        <p:spPr>
          <a:xfrm>
            <a:off x="9318765" y="2472290"/>
            <a:ext cx="153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Metabolism</a:t>
            </a: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6722105A-A4D6-C67D-6E86-1A8CE83561C0}"/>
              </a:ext>
            </a:extLst>
          </p:cNvPr>
          <p:cNvSpPr/>
          <p:nvPr/>
        </p:nvSpPr>
        <p:spPr>
          <a:xfrm rot="14494186">
            <a:off x="4508503" y="1715854"/>
            <a:ext cx="3936218" cy="2421367"/>
          </a:xfrm>
          <a:prstGeom prst="arc">
            <a:avLst/>
          </a:prstGeom>
          <a:ln w="2540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43B3B498-20DD-68A2-00BE-D80F8D114296}"/>
              </a:ext>
            </a:extLst>
          </p:cNvPr>
          <p:cNvSpPr/>
          <p:nvPr/>
        </p:nvSpPr>
        <p:spPr>
          <a:xfrm rot="3122261">
            <a:off x="1785816" y="71534"/>
            <a:ext cx="7392657" cy="5411185"/>
          </a:xfrm>
          <a:prstGeom prst="arc">
            <a:avLst>
              <a:gd name="adj1" fmla="val 16116605"/>
              <a:gd name="adj2" fmla="val 0"/>
            </a:avLst>
          </a:prstGeom>
          <a:ln w="254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E6E7798F-1E9A-2322-13CE-A7EA1F64F423}"/>
              </a:ext>
            </a:extLst>
          </p:cNvPr>
          <p:cNvSpPr/>
          <p:nvPr/>
        </p:nvSpPr>
        <p:spPr>
          <a:xfrm rot="3122261">
            <a:off x="3489548" y="1558277"/>
            <a:ext cx="5053260" cy="4040640"/>
          </a:xfrm>
          <a:prstGeom prst="arc">
            <a:avLst>
              <a:gd name="adj1" fmla="val 16174176"/>
              <a:gd name="adj2" fmla="val 0"/>
            </a:avLst>
          </a:prstGeom>
          <a:ln w="254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09B1C6-B337-CE5F-C3CF-AB87D0BB4D3F}"/>
              </a:ext>
            </a:extLst>
          </p:cNvPr>
          <p:cNvSpPr txBox="1"/>
          <p:nvPr/>
        </p:nvSpPr>
        <p:spPr>
          <a:xfrm>
            <a:off x="9139619" y="4939018"/>
            <a:ext cx="1530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Resource extraction + outflow</a:t>
            </a:r>
          </a:p>
        </p:txBody>
      </p:sp>
      <p:sp>
        <p:nvSpPr>
          <p:cNvPr id="99" name="AutoShape 4">
            <a:extLst>
              <a:ext uri="{FF2B5EF4-FFF2-40B4-BE49-F238E27FC236}">
                <a16:creationId xmlns:a16="http://schemas.microsoft.com/office/drawing/2014/main" id="{31F844C1-FF9A-4D7C-2E06-CBBAAEAC49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16591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BCD6-80C0-8578-8B9D-DF586DCC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10BF14-97D1-AFE9-68FA-5EB04C8B1AEA}"/>
              </a:ext>
            </a:extLst>
          </p:cNvPr>
          <p:cNvCxnSpPr>
            <a:cxnSpLocks/>
          </p:cNvCxnSpPr>
          <p:nvPr/>
        </p:nvCxnSpPr>
        <p:spPr>
          <a:xfrm>
            <a:off x="7857784" y="3545328"/>
            <a:ext cx="3257507" cy="19062"/>
          </a:xfrm>
          <a:prstGeom prst="straightConnector1">
            <a:avLst/>
          </a:prstGeom>
          <a:ln w="508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8CC01FB-E3DA-6310-0046-0FB1BF31AB64}"/>
              </a:ext>
            </a:extLst>
          </p:cNvPr>
          <p:cNvSpPr/>
          <p:nvPr/>
        </p:nvSpPr>
        <p:spPr>
          <a:xfrm>
            <a:off x="2414016" y="619395"/>
            <a:ext cx="8422048" cy="56899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6ED09-B86F-DC05-950C-C108AA23434C}"/>
              </a:ext>
            </a:extLst>
          </p:cNvPr>
          <p:cNvSpPr txBox="1"/>
          <p:nvPr/>
        </p:nvSpPr>
        <p:spPr>
          <a:xfrm>
            <a:off x="4327265" y="160182"/>
            <a:ext cx="459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Lake N and P retention and internal cycling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27F93-AFDF-8121-F11A-A3CA749CAB89}"/>
              </a:ext>
            </a:extLst>
          </p:cNvPr>
          <p:cNvSpPr txBox="1"/>
          <p:nvPr/>
        </p:nvSpPr>
        <p:spPr>
          <a:xfrm>
            <a:off x="0" y="3059668"/>
            <a:ext cx="2414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External nutrient loads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1CE52C-9D32-9A09-E063-C79AC794A08C}"/>
              </a:ext>
            </a:extLst>
          </p:cNvPr>
          <p:cNvCxnSpPr>
            <a:cxnSpLocks/>
          </p:cNvCxnSpPr>
          <p:nvPr/>
        </p:nvCxnSpPr>
        <p:spPr>
          <a:xfrm>
            <a:off x="88490" y="3564390"/>
            <a:ext cx="2622301" cy="14207"/>
          </a:xfrm>
          <a:prstGeom prst="straightConnector1">
            <a:avLst/>
          </a:prstGeom>
          <a:ln w="1270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483ACC-3D60-C12B-6EF3-40041E64CB44}"/>
              </a:ext>
            </a:extLst>
          </p:cNvPr>
          <p:cNvCxnSpPr>
            <a:cxnSpLocks/>
          </p:cNvCxnSpPr>
          <p:nvPr/>
        </p:nvCxnSpPr>
        <p:spPr>
          <a:xfrm flipV="1">
            <a:off x="6643724" y="2653214"/>
            <a:ext cx="3616" cy="448407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AA275E-7548-40EC-F343-BB463A922952}"/>
              </a:ext>
            </a:extLst>
          </p:cNvPr>
          <p:cNvSpPr txBox="1"/>
          <p:nvPr/>
        </p:nvSpPr>
        <p:spPr>
          <a:xfrm>
            <a:off x="5530876" y="3233171"/>
            <a:ext cx="2215123" cy="7150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Dissolved inorganic nutrients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E2F3D-5711-D809-DE65-FC25B6935C2F}"/>
              </a:ext>
            </a:extLst>
          </p:cNvPr>
          <p:cNvSpPr txBox="1"/>
          <p:nvPr/>
        </p:nvSpPr>
        <p:spPr>
          <a:xfrm>
            <a:off x="6811196" y="2762593"/>
            <a:ext cx="98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Uptake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A09A86-1F1D-AA79-3740-E54DCFD4C5CC}"/>
              </a:ext>
            </a:extLst>
          </p:cNvPr>
          <p:cNvCxnSpPr>
            <a:cxnSpLocks/>
          </p:cNvCxnSpPr>
          <p:nvPr/>
        </p:nvCxnSpPr>
        <p:spPr>
          <a:xfrm flipV="1">
            <a:off x="6638438" y="1247123"/>
            <a:ext cx="0" cy="42212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81E21F-53D1-10BD-D2B8-3BE68D95D66B}"/>
              </a:ext>
            </a:extLst>
          </p:cNvPr>
          <p:cNvSpPr txBox="1"/>
          <p:nvPr/>
        </p:nvSpPr>
        <p:spPr>
          <a:xfrm>
            <a:off x="6713516" y="1247123"/>
            <a:ext cx="128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Trophic transfer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B81E07-14E9-20B4-154B-F46295F630BB}"/>
              </a:ext>
            </a:extLst>
          </p:cNvPr>
          <p:cNvSpPr txBox="1"/>
          <p:nvPr/>
        </p:nvSpPr>
        <p:spPr>
          <a:xfrm>
            <a:off x="3457065" y="1758389"/>
            <a:ext cx="128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Excretion + egestion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65ABC0-C8ED-7ECA-20E0-A78395953AB8}"/>
              </a:ext>
            </a:extLst>
          </p:cNvPr>
          <p:cNvSpPr/>
          <p:nvPr/>
        </p:nvSpPr>
        <p:spPr>
          <a:xfrm>
            <a:off x="5745845" y="5175072"/>
            <a:ext cx="1758389" cy="87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Nutrient pool: sediments + biomass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11F827-4D5A-8BA1-A133-8D3A408BF615}"/>
              </a:ext>
            </a:extLst>
          </p:cNvPr>
          <p:cNvSpPr txBox="1"/>
          <p:nvPr/>
        </p:nvSpPr>
        <p:spPr>
          <a:xfrm>
            <a:off x="3402860" y="4864348"/>
            <a:ext cx="84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Burial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A86DC9-7632-5A7E-5E80-A26F9DBAB1AA}"/>
              </a:ext>
            </a:extLst>
          </p:cNvPr>
          <p:cNvSpPr txBox="1"/>
          <p:nvPr/>
        </p:nvSpPr>
        <p:spPr>
          <a:xfrm>
            <a:off x="11013363" y="3059679"/>
            <a:ext cx="1143001" cy="36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Outputs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58F5CDE-E5FD-F70E-89B7-5F374B8BE9DC}"/>
              </a:ext>
            </a:extLst>
          </p:cNvPr>
          <p:cNvCxnSpPr>
            <a:cxnSpLocks/>
          </p:cNvCxnSpPr>
          <p:nvPr/>
        </p:nvCxnSpPr>
        <p:spPr>
          <a:xfrm>
            <a:off x="11150603" y="3583686"/>
            <a:ext cx="1020143" cy="1821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EBC4BB2-7BA5-AE19-1C0E-FC4D3D446D34}"/>
              </a:ext>
            </a:extLst>
          </p:cNvPr>
          <p:cNvCxnSpPr>
            <a:cxnSpLocks/>
          </p:cNvCxnSpPr>
          <p:nvPr/>
        </p:nvCxnSpPr>
        <p:spPr>
          <a:xfrm flipV="1">
            <a:off x="6723482" y="4084058"/>
            <a:ext cx="0" cy="780290"/>
          </a:xfrm>
          <a:prstGeom prst="straightConnector1">
            <a:avLst/>
          </a:prstGeom>
          <a:ln w="9525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7167F32-47E6-B94B-B203-ABC36FF648EB}"/>
              </a:ext>
            </a:extLst>
          </p:cNvPr>
          <p:cNvSpPr txBox="1"/>
          <p:nvPr/>
        </p:nvSpPr>
        <p:spPr>
          <a:xfrm>
            <a:off x="4711795" y="4181198"/>
            <a:ext cx="1735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Bioturbation + decomposition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005185-9AB4-7B78-9B46-B71050A91773}"/>
              </a:ext>
            </a:extLst>
          </p:cNvPr>
          <p:cNvCxnSpPr>
            <a:cxnSpLocks/>
          </p:cNvCxnSpPr>
          <p:nvPr/>
        </p:nvCxnSpPr>
        <p:spPr>
          <a:xfrm>
            <a:off x="2690793" y="3564390"/>
            <a:ext cx="2936089" cy="2146111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E38B3E5-43E2-1E93-B954-B7D5AC762FDA}"/>
              </a:ext>
            </a:extLst>
          </p:cNvPr>
          <p:cNvSpPr txBox="1"/>
          <p:nvPr/>
        </p:nvSpPr>
        <p:spPr>
          <a:xfrm>
            <a:off x="8575279" y="4104871"/>
            <a:ext cx="1294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Storage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8BDF8BA-48BA-6762-2FD8-DC0C38436866}"/>
              </a:ext>
            </a:extLst>
          </p:cNvPr>
          <p:cNvCxnSpPr>
            <a:cxnSpLocks/>
          </p:cNvCxnSpPr>
          <p:nvPr/>
        </p:nvCxnSpPr>
        <p:spPr>
          <a:xfrm flipV="1">
            <a:off x="7704309" y="3585507"/>
            <a:ext cx="3438896" cy="2197468"/>
          </a:xfrm>
          <a:prstGeom prst="straightConnector1">
            <a:avLst/>
          </a:prstGeom>
          <a:ln w="1016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2C2E4A-2E30-3A31-236F-E552111AB165}"/>
              </a:ext>
            </a:extLst>
          </p:cNvPr>
          <p:cNvCxnSpPr>
            <a:cxnSpLocks/>
          </p:cNvCxnSpPr>
          <p:nvPr/>
        </p:nvCxnSpPr>
        <p:spPr>
          <a:xfrm flipV="1">
            <a:off x="6522914" y="4084058"/>
            <a:ext cx="0" cy="78029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23AAFD8-00BE-0450-3E1A-B7445101743E}"/>
              </a:ext>
            </a:extLst>
          </p:cNvPr>
          <p:cNvSpPr txBox="1"/>
          <p:nvPr/>
        </p:nvSpPr>
        <p:spPr>
          <a:xfrm>
            <a:off x="6816877" y="4170079"/>
            <a:ext cx="1339902" cy="66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Abiotic processes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A0AF886-62C3-17A9-36C0-CEA79115EFE4}"/>
              </a:ext>
            </a:extLst>
          </p:cNvPr>
          <p:cNvCxnSpPr>
            <a:cxnSpLocks/>
          </p:cNvCxnSpPr>
          <p:nvPr/>
        </p:nvCxnSpPr>
        <p:spPr>
          <a:xfrm>
            <a:off x="2685284" y="3542710"/>
            <a:ext cx="2610891" cy="100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A904A84-1B72-ECE2-9D5D-9D0C69F978EA}"/>
              </a:ext>
            </a:extLst>
          </p:cNvPr>
          <p:cNvCxnSpPr>
            <a:cxnSpLocks/>
          </p:cNvCxnSpPr>
          <p:nvPr/>
        </p:nvCxnSpPr>
        <p:spPr>
          <a:xfrm>
            <a:off x="7262773" y="2128257"/>
            <a:ext cx="3942833" cy="1415377"/>
          </a:xfrm>
          <a:prstGeom prst="straightConnector1">
            <a:avLst/>
          </a:prstGeom>
          <a:ln w="1016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6237B62-7BD1-DB05-6A43-5FF7499E1E30}"/>
              </a:ext>
            </a:extLst>
          </p:cNvPr>
          <p:cNvSpPr txBox="1"/>
          <p:nvPr/>
        </p:nvSpPr>
        <p:spPr>
          <a:xfrm>
            <a:off x="9301599" y="2405161"/>
            <a:ext cx="153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Metabolism</a:t>
            </a: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3886C323-F51F-9103-E106-C49D36702E3A}"/>
              </a:ext>
            </a:extLst>
          </p:cNvPr>
          <p:cNvSpPr/>
          <p:nvPr/>
        </p:nvSpPr>
        <p:spPr>
          <a:xfrm rot="14494186">
            <a:off x="4742117" y="1437830"/>
            <a:ext cx="3868240" cy="2838569"/>
          </a:xfrm>
          <a:prstGeom prst="arc">
            <a:avLst/>
          </a:prstGeom>
          <a:ln w="2540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779B0E9A-27F7-606F-7D64-6115756828BD}"/>
              </a:ext>
            </a:extLst>
          </p:cNvPr>
          <p:cNvSpPr/>
          <p:nvPr/>
        </p:nvSpPr>
        <p:spPr>
          <a:xfrm rot="3122261">
            <a:off x="2026687" y="152593"/>
            <a:ext cx="6991156" cy="5491969"/>
          </a:xfrm>
          <a:prstGeom prst="arc">
            <a:avLst>
              <a:gd name="adj1" fmla="val 16116605"/>
              <a:gd name="adj2" fmla="val 0"/>
            </a:avLst>
          </a:prstGeom>
          <a:ln w="254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D18D22CD-FC91-D836-38C7-FD8D7CDE13E6}"/>
              </a:ext>
            </a:extLst>
          </p:cNvPr>
          <p:cNvSpPr/>
          <p:nvPr/>
        </p:nvSpPr>
        <p:spPr>
          <a:xfrm rot="3122261">
            <a:off x="3156576" y="1602382"/>
            <a:ext cx="5531184" cy="3425814"/>
          </a:xfrm>
          <a:prstGeom prst="arc">
            <a:avLst>
              <a:gd name="adj1" fmla="val 16174176"/>
              <a:gd name="adj2" fmla="val 0"/>
            </a:avLst>
          </a:prstGeom>
          <a:ln w="254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03A24B0-2875-9804-50EB-5FCC702FF57D}"/>
              </a:ext>
            </a:extLst>
          </p:cNvPr>
          <p:cNvSpPr txBox="1"/>
          <p:nvPr/>
        </p:nvSpPr>
        <p:spPr>
          <a:xfrm>
            <a:off x="9301599" y="5040262"/>
            <a:ext cx="1530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Resource extraction + outflow</a:t>
            </a:r>
          </a:p>
        </p:txBody>
      </p:sp>
      <p:sp>
        <p:nvSpPr>
          <p:cNvPr id="99" name="AutoShape 4">
            <a:extLst>
              <a:ext uri="{FF2B5EF4-FFF2-40B4-BE49-F238E27FC236}">
                <a16:creationId xmlns:a16="http://schemas.microsoft.com/office/drawing/2014/main" id="{F7D9C9AC-A548-0B6B-E12C-9B9FA5D924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6" name="Graphic 5" descr="Seaweed with solid fill">
            <a:extLst>
              <a:ext uri="{FF2B5EF4-FFF2-40B4-BE49-F238E27FC236}">
                <a16:creationId xmlns:a16="http://schemas.microsoft.com/office/drawing/2014/main" id="{955C1C61-7C36-4A66-F8E0-64B582633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6534" y="1867430"/>
            <a:ext cx="717012" cy="717012"/>
          </a:xfrm>
          <a:prstGeom prst="rect">
            <a:avLst/>
          </a:prstGeom>
        </p:spPr>
      </p:pic>
      <p:pic>
        <p:nvPicPr>
          <p:cNvPr id="2050" name="Picture 2" descr="Dreissena polymorpha">
            <a:extLst>
              <a:ext uri="{FF2B5EF4-FFF2-40B4-BE49-F238E27FC236}">
                <a16:creationId xmlns:a16="http://schemas.microsoft.com/office/drawing/2014/main" id="{7E6EFFF4-F672-3CF3-844D-5BD3BE4D5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783" y="779417"/>
            <a:ext cx="586658" cy="36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rosoma cepedianum">
            <a:extLst>
              <a:ext uri="{FF2B5EF4-FFF2-40B4-BE49-F238E27FC236}">
                <a16:creationId xmlns:a16="http://schemas.microsoft.com/office/drawing/2014/main" id="{B424337B-4D80-9B16-AE32-627D9AD86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066" y="779659"/>
            <a:ext cx="902348" cy="43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325244-F071-15DE-8442-D93324BA0D3C}"/>
              </a:ext>
            </a:extLst>
          </p:cNvPr>
          <p:cNvSpPr txBox="1"/>
          <p:nvPr/>
        </p:nvSpPr>
        <p:spPr>
          <a:xfrm>
            <a:off x="8703806" y="3155886"/>
            <a:ext cx="153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Outflow</a:t>
            </a:r>
          </a:p>
        </p:txBody>
      </p:sp>
    </p:spTree>
    <p:extLst>
      <p:ext uri="{BB962C8B-B14F-4D97-AF65-F5344CB8AC3E}">
        <p14:creationId xmlns:p14="http://schemas.microsoft.com/office/powerpoint/2010/main" val="26226377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2789</TotalTime>
  <Words>564</Words>
  <Application>Microsoft Office PowerPoint</Application>
  <PresentationFormat>Widescreen</PresentationFormat>
  <Paragraphs>70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Klemet-N'guessan</dc:creator>
  <cp:lastModifiedBy>Sandra Klemet-N'guessan</cp:lastModifiedBy>
  <cp:revision>1</cp:revision>
  <dcterms:created xsi:type="dcterms:W3CDTF">2025-12-14T16:22:11Z</dcterms:created>
  <dcterms:modified xsi:type="dcterms:W3CDTF">2026-03-14T23:49:05Z</dcterms:modified>
</cp:coreProperties>
</file>